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A2341"/>
                </a:solidFill>
                <a:latin typeface="Calibri"/>
              </a:rPr>
              <a:t>Measured response time by mode (seconds, warm)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time (s)</c:v>
                </c:pt>
              </c:strCache>
            </c:strRef>
          </c:tx>
          <c:spPr>
            <a:solidFill>
              <a:srgbClr val="0A2341"/>
            </a:solidFill>
          </c:spPr>
          <c:cat>
            <c:strRef>
              <c:f>Sheet1!$A$2:$A$6</c:f>
              <c:strCache>
                <c:ptCount val="5"/>
                <c:pt idx="0">
                  <c:v>Proximity</c:v>
                </c:pt>
                <c:pt idx="1">
                  <c:v>Currency</c:v>
                </c:pt>
                <c:pt idx="2">
                  <c:v>Describe</c:v>
                </c:pt>
                <c:pt idx="3">
                  <c:v>Read</c:v>
                </c:pt>
                <c:pt idx="4">
                  <c:v>Question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</c:v>
                </c:pt>
                <c:pt idx="1">
                  <c:v>0.3</c:v>
                </c:pt>
                <c:pt idx="2">
                  <c:v>1.49</c:v>
                </c:pt>
                <c:pt idx="3">
                  <c:v>4.34</c:v>
                </c:pt>
                <c:pt idx="4">
                  <c:v>5.9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50" b="1">
                  <a:solidFill>
                    <a:srgbClr val="0A234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37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9E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A637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5896C-05B0-E9F2-F3ED-BE855E78D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CB26D-D64F-2CAC-9B0B-1F105CF9D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FEF20-2E69-0583-99EA-97C5C085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FA80-1BA0-4C4F-82C6-DE8E7E24433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D627A-B449-D7F3-1FAB-893933732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C9B40-3C40-7372-1B66-C7D6856A1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2FD86-2359-4B26-A609-D7EA1D1E8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03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DE4B-11FD-F17D-91A9-00AE6F3D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40698-357A-37CD-9BA7-C30E8C112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F5ABD-A9DE-1EC6-115C-C87E0AE4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FA80-1BA0-4C4F-82C6-DE8E7E24433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7963A-A5B5-1E51-C5EC-B863F8F0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753C7-80ED-82D4-401C-D14E6960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2FD86-2359-4B26-A609-D7EA1D1E8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03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28FC5-02CA-909C-CA7E-A7A333F98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908F6-8960-A676-98B6-77BE746D9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C0CA6-1C16-27B7-AF09-57432ECB3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FA80-1BA0-4C4F-82C6-DE8E7E24433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E236D-F702-7D50-B846-F7A901ECC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F9A52-1DDB-C760-57BD-4F9EC5AB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2FD86-2359-4B26-A609-D7EA1D1E8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984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AA85-E89C-A641-7630-25992C7F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D5D3C-31C9-B59F-6064-17BFF18383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BC5EB-A1DD-F87F-8A9C-221926D74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E1CB6-0184-BC47-62DC-45839990F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FA80-1BA0-4C4F-82C6-DE8E7E24433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914DB-D8D0-3D32-BE0C-B4B7363ED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E4C2A-C664-1607-12DA-A2C9EBF0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2FD86-2359-4B26-A609-D7EA1D1E8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216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036A7-B8E5-C34E-C701-EA81EDBC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7D8D5-0F16-016F-99E1-73B07C2AC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4D879-010B-E0F2-D5BC-D6465661D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65D24-D103-01C1-2A6A-63A3638B8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EDF720-2149-DB5C-84DE-55AA4E794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F16D99-53AC-99E9-2244-732E7C14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FA80-1BA0-4C4F-82C6-DE8E7E24433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A894F-33CB-1D49-35B9-4BA958CD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3AE54-BCE7-8FA7-7853-243B9A12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2FD86-2359-4B26-A609-D7EA1D1E8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46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7D5B-08DA-3A52-4D98-2DB159A25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7B1117-E365-B9CD-D7B3-6F40A23B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FA80-1BA0-4C4F-82C6-DE8E7E24433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A759D-1B84-DC51-BF16-39D640193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9989D-B78A-5DBE-5514-F49E9143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2FD86-2359-4B26-A609-D7EA1D1E8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474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7B4FAD-D627-E931-77BD-A5FDABEC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FA80-1BA0-4C4F-82C6-DE8E7E24433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ED03B3-6F35-F822-AFC8-862CC1DB0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2FF21-15D0-282D-611D-BD9F6137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2FD86-2359-4B26-A609-D7EA1D1E8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8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14C3-A0B9-B120-18CF-019DF61F9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430DE-2EE2-60B0-0966-F717B8855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43AD7-36DB-99FB-C588-911D57139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630C2-C840-34A5-9940-35533263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FA80-1BA0-4C4F-82C6-DE8E7E24433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A895D-0C06-37A9-55DC-7C7FED95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89AE7-DB91-1671-7680-67105CA6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2FD86-2359-4B26-A609-D7EA1D1E8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94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DBFF-E8DF-527D-EF2E-A3C63B17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16B44E-9508-DC97-8C2A-101DDB7A25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5A2B5-070C-6029-58EA-1D0AD9A5E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CE7E9-B18F-7AE7-792F-578F6C72F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FA80-1BA0-4C4F-82C6-DE8E7E24433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4B477-BBB7-70FF-0235-6B8B5D42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732C1-CA7E-2C25-9E91-563C0677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2FD86-2359-4B26-A609-D7EA1D1E8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710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DBBF-FA5E-2ACE-F25B-DCF32ACCB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69729E-7E79-0B51-80C6-EAE01AE82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953C5-01B9-AFED-F376-52671349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FA80-1BA0-4C4F-82C6-DE8E7E24433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07012-9583-AD47-4A94-F13757BA6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0700D-E040-3A53-5528-54715B574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2FD86-2359-4B26-A609-D7EA1D1E8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80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A7F008-6073-BE74-7C25-C37A6FD9F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7ED87-B8D3-B6AF-E579-7BA109CBC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D3439-57A7-8402-1F01-61125AC93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AFA80-1BA0-4C4F-82C6-DE8E7E24433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DE256-2A19-0D6D-888E-617F872D2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16FC1-054B-4B45-86BD-F58D309E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2FD86-2359-4B26-A609-D7EA1D1E8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1686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78C591-FCA8-C0FF-23B6-1424C282D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AC2F8-13F6-830A-13AD-45E4C3627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FDC8A-0546-3978-7534-FCAC17E3E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AFA80-1BA0-4C4F-82C6-DE8E7E24433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795D0-44A4-072F-1A87-B6D406083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C1FCD-A8F9-0FE1-6044-C6C7AA9F3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2FD86-2359-4B26-A609-D7EA1D1E8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27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D51456-851C-29B1-250C-28F8FE7F290D}"/>
              </a:ext>
            </a:extLst>
          </p:cNvPr>
          <p:cNvCxnSpPr/>
          <p:nvPr/>
        </p:nvCxnSpPr>
        <p:spPr>
          <a:xfrm>
            <a:off x="681925" y="4587498"/>
            <a:ext cx="1083331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65FD7C-4796-1275-BF1D-247D22B544A6}"/>
              </a:ext>
            </a:extLst>
          </p:cNvPr>
          <p:cNvCxnSpPr>
            <a:cxnSpLocks/>
          </p:cNvCxnSpPr>
          <p:nvPr/>
        </p:nvCxnSpPr>
        <p:spPr>
          <a:xfrm>
            <a:off x="3595609" y="6413711"/>
            <a:ext cx="520743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12AB161-3200-8669-1864-ABDB7FBFC4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44" t="11164" r="7938" b="38386"/>
          <a:stretch>
            <a:fillRect/>
          </a:stretch>
        </p:blipFill>
        <p:spPr>
          <a:xfrm>
            <a:off x="5167013" y="6081930"/>
            <a:ext cx="1857973" cy="663561"/>
          </a:xfrm>
          <a:prstGeom prst="rect">
            <a:avLst/>
          </a:prstGeom>
        </p:spPr>
      </p:pic>
      <p:pic>
        <p:nvPicPr>
          <p:cNvPr id="14" name="Picture 2" descr="RGUKT Srikakulam">
            <a:extLst>
              <a:ext uri="{FF2B5EF4-FFF2-40B4-BE49-F238E27FC236}">
                <a16:creationId xmlns:a16="http://schemas.microsoft.com/office/drawing/2014/main" id="{EE88AE68-F255-3811-948A-656B78141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653" y="132408"/>
            <a:ext cx="1116297" cy="1116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658368" y="1005840"/>
            <a:ext cx="10835640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0A2341"/>
                </a:solidFill>
                <a:latin typeface="Times New Roman"/>
              </a:rPr>
              <a:t>SETU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267712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A5191E"/>
                </a:solidFill>
                <a:latin typeface="Calibri"/>
              </a:rPr>
              <a:t>“A bridge between the seen and the unseen”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724912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2060"/>
                </a:solidFill>
                <a:latin typeface="Calibri"/>
              </a:rPr>
              <a:t>Offline AI Assistive Technology for Persons with Visual Impairment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310128"/>
            <a:ext cx="3858768" cy="402336"/>
          </a:xfrm>
          <a:prstGeom prst="roundRect">
            <a:avLst>
              <a:gd name="adj" fmla="val 45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Problem Statement #4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858768"/>
            <a:ext cx="10835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17D23"/>
                </a:solidFill>
                <a:latin typeface="Calibri"/>
              </a:rPr>
              <a:t>TEAM 31   •   GRYFFINDOR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151376"/>
            <a:ext cx="2606040" cy="384048"/>
          </a:xfrm>
          <a:prstGeom prst="roundRect">
            <a:avLst>
              <a:gd name="adj" fmla="val 1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B. Dhanush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4151376"/>
            <a:ext cx="2606040" cy="384048"/>
          </a:xfrm>
          <a:prstGeom prst="roundRect">
            <a:avLst>
              <a:gd name="adj" fmla="val 1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K. Siva Prasad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4151376"/>
            <a:ext cx="2606040" cy="384048"/>
          </a:xfrm>
          <a:prstGeom prst="roundRect">
            <a:avLst>
              <a:gd name="adj" fmla="val 1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B. Dhanaraju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7" y="4151376"/>
            <a:ext cx="2606040" cy="384048"/>
          </a:xfrm>
          <a:prstGeom prst="roundRect">
            <a:avLst>
              <a:gd name="adj" fmla="val 1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M. M. Ravi Teja Reddy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773168"/>
            <a:ext cx="10835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A2341"/>
                </a:solidFill>
                <a:latin typeface="Calibri"/>
              </a:rPr>
              <a:t>RGUKT Srikakulam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372"/>
                </a:solidFill>
                <a:latin typeface="Calibri"/>
              </a:rPr>
              <a:t>Rajiv Gandhi University of Knowledge Technologies</a:t>
            </a:r>
          </a:p>
        </p:txBody>
      </p:sp>
    </p:spTree>
    <p:extLst>
      <p:ext uri="{BB962C8B-B14F-4D97-AF65-F5344CB8AC3E}">
        <p14:creationId xmlns:p14="http://schemas.microsoft.com/office/powerpoint/2010/main" val="3374045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D5C2-4F48-7313-AB0A-B57ED3E53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45876-E24E-FA2D-8B96-D48CA1021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759" y="83972"/>
            <a:ext cx="10833316" cy="783931"/>
          </a:xfrm>
        </p:spPr>
        <p:txBody>
          <a:bodyPr>
            <a:normAutofit/>
          </a:bodyPr>
          <a:lstStyle/>
          <a:p>
            <a:pPr algn="l"/>
            <a:r>
              <a:rPr lang="en-US" sz="3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/ Abstract</a:t>
            </a:r>
            <a:endParaRPr lang="en-IN" sz="3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6E4C19-6C19-07FB-5F1D-D5E1A6AFE41F}"/>
              </a:ext>
            </a:extLst>
          </p:cNvPr>
          <p:cNvCxnSpPr>
            <a:cxnSpLocks/>
          </p:cNvCxnSpPr>
          <p:nvPr/>
        </p:nvCxnSpPr>
        <p:spPr>
          <a:xfrm>
            <a:off x="681925" y="836905"/>
            <a:ext cx="103218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E66B35-B0F7-9297-8A9B-7C7AC38202DE}"/>
              </a:ext>
            </a:extLst>
          </p:cNvPr>
          <p:cNvCxnSpPr>
            <a:cxnSpLocks/>
          </p:cNvCxnSpPr>
          <p:nvPr/>
        </p:nvCxnSpPr>
        <p:spPr>
          <a:xfrm>
            <a:off x="3595609" y="6413711"/>
            <a:ext cx="520743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D84E7A7-267F-68FF-8378-10DA483080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44" t="11164" r="7938" b="38386"/>
          <a:stretch>
            <a:fillRect/>
          </a:stretch>
        </p:blipFill>
        <p:spPr>
          <a:xfrm>
            <a:off x="10074810" y="92757"/>
            <a:ext cx="1857973" cy="663561"/>
          </a:xfrm>
          <a:prstGeom prst="rect">
            <a:avLst/>
          </a:prstGeom>
        </p:spPr>
      </p:pic>
      <p:pic>
        <p:nvPicPr>
          <p:cNvPr id="9" name="Picture 2" descr="RGUKT Srikakulam">
            <a:extLst>
              <a:ext uri="{FF2B5EF4-FFF2-40B4-BE49-F238E27FC236}">
                <a16:creationId xmlns:a16="http://schemas.microsoft.com/office/drawing/2014/main" id="{B0389887-3E95-687D-E2DA-751C4EEFE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0" y="5984990"/>
            <a:ext cx="814919" cy="81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58368" y="1060704"/>
            <a:ext cx="6446520" cy="2231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A5191E"/>
                </a:solidFill>
                <a:latin typeface="Calibri"/>
              </a:rPr>
              <a:t>The Problem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002060"/>
                </a:solidFill>
                <a:latin typeface="Calibri"/>
              </a:rPr>
              <a:t>India has 4.95 crore people with vision impairment — the largest such population in the world. Everyday tasks that sighted people never think about are daily obstacles: identifying a currency note, reading a signboard or medicine label, or knowing an obstacle is in the path ahead.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2060"/>
                </a:solidFill>
                <a:latin typeface="Calibri"/>
              </a:rPr>
              <a:t>Existing assistive apps depend on the cloud. That makes them unusable exactly where they are needed most — rural areas, transit, low-connectivity environments — while sending a blind user's camera feed to a remote server.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56432"/>
            <a:ext cx="64465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700" b="1" i="0">
                <a:solidFill>
                  <a:srgbClr val="A5191E"/>
                </a:solidFill>
                <a:latin typeface="Calibri"/>
              </a:rPr>
              <a:t>Our Solution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2060"/>
                </a:solidFill>
                <a:latin typeface="Calibri"/>
              </a:rPr>
              <a:t>SETU (Sanskrit: “bridge”) is a voice-first assistive assistant that runs 100% on-device. Five capabilities — currency recognition, scene description, text reading, visual Q&amp;A and proximity alerts — are invoked by a single spoken word and answered aloud, with no internet connection at any 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060704"/>
            <a:ext cx="3904487" cy="1298448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400" b="1" i="0">
                <a:solidFill>
                  <a:srgbClr val="0A2341"/>
                </a:solidFill>
                <a:latin typeface="Times New Roman"/>
              </a:rPr>
              <a:t>100%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Offline — no cloud, no data leaves the device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542032"/>
            <a:ext cx="3904487" cy="1298448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400" b="1" i="0">
                <a:solidFill>
                  <a:srgbClr val="0A2341"/>
                </a:solidFill>
                <a:latin typeface="Times New Roman"/>
              </a:rPr>
              <a:t>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Assistive modes in one voice-first 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023360"/>
            <a:ext cx="3904487" cy="1298448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4630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400" b="1" i="0">
                <a:solidFill>
                  <a:srgbClr val="0A2341"/>
                </a:solidFill>
                <a:latin typeface="Times New Roman"/>
              </a:rPr>
              <a:t>0.3s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Currency scan, warm</a:t>
            </a:r>
          </a:p>
        </p:txBody>
      </p:sp>
    </p:spTree>
    <p:extLst>
      <p:ext uri="{BB962C8B-B14F-4D97-AF65-F5344CB8AC3E}">
        <p14:creationId xmlns:p14="http://schemas.microsoft.com/office/powerpoint/2010/main" val="2614935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C01BF-BD8B-35F4-76B3-D5CF21049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2990C-D622-A1C7-659C-FBC7D4B0E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759" y="83972"/>
            <a:ext cx="10833316" cy="783931"/>
          </a:xfrm>
        </p:spPr>
        <p:txBody>
          <a:bodyPr>
            <a:normAutofit/>
          </a:bodyPr>
          <a:lstStyle/>
          <a:p>
            <a:pPr algn="l"/>
            <a:r>
              <a:rPr lang="en-US" sz="3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C842EA-A4A5-0263-04C3-7B655922205C}"/>
              </a:ext>
            </a:extLst>
          </p:cNvPr>
          <p:cNvCxnSpPr>
            <a:cxnSpLocks/>
          </p:cNvCxnSpPr>
          <p:nvPr/>
        </p:nvCxnSpPr>
        <p:spPr>
          <a:xfrm>
            <a:off x="681925" y="836905"/>
            <a:ext cx="103218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584C38-D18F-D253-7827-984C897B3FE0}"/>
              </a:ext>
            </a:extLst>
          </p:cNvPr>
          <p:cNvCxnSpPr>
            <a:cxnSpLocks/>
          </p:cNvCxnSpPr>
          <p:nvPr/>
        </p:nvCxnSpPr>
        <p:spPr>
          <a:xfrm>
            <a:off x="3595609" y="6413711"/>
            <a:ext cx="520743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39F7006-BDB5-6C56-F09A-04EC37E326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44" t="11164" r="7938" b="38386"/>
          <a:stretch>
            <a:fillRect/>
          </a:stretch>
        </p:blipFill>
        <p:spPr>
          <a:xfrm>
            <a:off x="10074810" y="92757"/>
            <a:ext cx="1857973" cy="663561"/>
          </a:xfrm>
          <a:prstGeom prst="rect">
            <a:avLst/>
          </a:prstGeom>
        </p:spPr>
      </p:pic>
      <p:pic>
        <p:nvPicPr>
          <p:cNvPr id="9" name="Picture 2" descr="RGUKT Srikakulam">
            <a:extLst>
              <a:ext uri="{FF2B5EF4-FFF2-40B4-BE49-F238E27FC236}">
                <a16:creationId xmlns:a16="http://schemas.microsoft.com/office/drawing/2014/main" id="{CAF73748-5C69-70B4-FE9D-82655DACA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0" y="5984990"/>
            <a:ext cx="814919" cy="81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58368" y="1042415"/>
            <a:ext cx="10835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A6372"/>
                </a:solidFill>
                <a:latin typeface="Calibri"/>
              </a:rPr>
              <a:t>Six goals, each mapped to a measurable outcome in the working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463040"/>
            <a:ext cx="3456432" cy="1408176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59" y="16184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618488"/>
            <a:ext cx="2615184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A2341"/>
                </a:solidFill>
                <a:latin typeface="Calibri"/>
              </a:rPr>
              <a:t>Work fully offline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372"/>
                </a:solidFill>
                <a:latin typeface="Calibri"/>
              </a:rPr>
              <a:t>Every model runs on-device. No API keys, no network calls, no user data leaving the machine.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5" y="1463040"/>
            <a:ext cx="3456432" cy="1408176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98847" y="16184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3" y="1618488"/>
            <a:ext cx="2615184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A2341"/>
                </a:solidFill>
                <a:latin typeface="Calibri"/>
              </a:rPr>
              <a:t>Make money identifiable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372"/>
                </a:solidFill>
                <a:latin typeface="Calibri"/>
              </a:rPr>
              <a:t>Detect Indian denominations and speak the total, so cash handling needs no second person.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463040"/>
            <a:ext cx="3456432" cy="1408176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74736" y="16184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618488"/>
            <a:ext cx="2615184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A2341"/>
                </a:solidFill>
                <a:latin typeface="Calibri"/>
              </a:rPr>
              <a:t>Describe the world on request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372"/>
                </a:solidFill>
                <a:latin typeface="Calibri"/>
              </a:rPr>
              <a:t>Turn the live camera into a spoken description of the scene in front of the user.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072384"/>
            <a:ext cx="3456432" cy="1408176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59" y="32278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3227832"/>
            <a:ext cx="2615184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A2341"/>
                </a:solidFill>
                <a:latin typeface="Calibri"/>
              </a:rPr>
              <a:t>Read printed text aloud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372"/>
                </a:solidFill>
                <a:latin typeface="Calibri"/>
              </a:rPr>
              <a:t>Extract text from signs, labels and documents, then summarise it in plain speech.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5" y="3072384"/>
            <a:ext cx="3456432" cy="1408176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98847" y="32278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3" y="3227832"/>
            <a:ext cx="2615184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A2341"/>
                </a:solidFill>
                <a:latin typeface="Calibri"/>
              </a:rPr>
              <a:t>Warn before collision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372"/>
                </a:solidFill>
                <a:latin typeface="Calibri"/>
              </a:rPr>
              <a:t>Flag large hazards close in the walking path with graded voice and haptic alerts.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072384"/>
            <a:ext cx="3456432" cy="1408176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74736" y="32278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227832"/>
            <a:ext cx="2615184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A2341"/>
                </a:solidFill>
                <a:latin typeface="Calibri"/>
              </a:rPr>
              <a:t>Be usable without sight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372"/>
                </a:solidFill>
                <a:latin typeface="Calibri"/>
              </a:rPr>
              <a:t>Voice-first control end to end — no menu, no button hunting, no screen dependency.</a:t>
            </a:r>
          </a:p>
        </p:txBody>
      </p:sp>
    </p:spTree>
    <p:extLst>
      <p:ext uri="{BB962C8B-B14F-4D97-AF65-F5344CB8AC3E}">
        <p14:creationId xmlns:p14="http://schemas.microsoft.com/office/powerpoint/2010/main" val="379222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E04D3-5C34-99BC-FFEC-55CD0445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696B-F202-4438-7DC9-3C277D9E0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759" y="83972"/>
            <a:ext cx="10833316" cy="783931"/>
          </a:xfrm>
        </p:spPr>
        <p:txBody>
          <a:bodyPr>
            <a:normAutofit/>
          </a:bodyPr>
          <a:lstStyle/>
          <a:p>
            <a:pPr algn="l"/>
            <a:r>
              <a:rPr lang="en-US" sz="3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IN" sz="3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FBC933-FED1-5089-BB6F-5897CFC3FD69}"/>
              </a:ext>
            </a:extLst>
          </p:cNvPr>
          <p:cNvCxnSpPr>
            <a:cxnSpLocks/>
          </p:cNvCxnSpPr>
          <p:nvPr/>
        </p:nvCxnSpPr>
        <p:spPr>
          <a:xfrm>
            <a:off x="681925" y="836905"/>
            <a:ext cx="103218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8B0E56-235C-C4FC-5DC1-AD20F24CCE5D}"/>
              </a:ext>
            </a:extLst>
          </p:cNvPr>
          <p:cNvCxnSpPr>
            <a:cxnSpLocks/>
          </p:cNvCxnSpPr>
          <p:nvPr/>
        </p:nvCxnSpPr>
        <p:spPr>
          <a:xfrm>
            <a:off x="3595609" y="6413711"/>
            <a:ext cx="520743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8B2FB7B-9DB8-BC23-F0EC-E1DA0694A2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44" t="11164" r="7938" b="38386"/>
          <a:stretch>
            <a:fillRect/>
          </a:stretch>
        </p:blipFill>
        <p:spPr>
          <a:xfrm>
            <a:off x="10074810" y="92757"/>
            <a:ext cx="1857973" cy="663561"/>
          </a:xfrm>
          <a:prstGeom prst="rect">
            <a:avLst/>
          </a:prstGeom>
        </p:spPr>
      </p:pic>
      <p:pic>
        <p:nvPicPr>
          <p:cNvPr id="9" name="Picture 2" descr="RGUKT Srikakulam">
            <a:extLst>
              <a:ext uri="{FF2B5EF4-FFF2-40B4-BE49-F238E27FC236}">
                <a16:creationId xmlns:a16="http://schemas.microsoft.com/office/drawing/2014/main" id="{417887CA-B454-0A95-B04A-95ABB52AC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0" y="5984990"/>
            <a:ext cx="814919" cy="81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58368" y="1042415"/>
            <a:ext cx="10835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A6372"/>
                </a:solidFill>
                <a:latin typeface="Calibri"/>
              </a:rPr>
              <a:t>One wake word per capability. Speak it, point the camera, hear the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426464"/>
            <a:ext cx="10835640" cy="65836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563624"/>
            <a:ext cx="1572768" cy="384048"/>
          </a:xfrm>
          <a:prstGeom prst="roundRect">
            <a:avLst>
              <a:gd name="adj" fmla="val 45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“currency”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527048"/>
            <a:ext cx="6903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0A2341"/>
                </a:solidFill>
                <a:latin typeface="Calibri"/>
              </a:rPr>
              <a:t>Currency Recognition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Custom YOLO detects each note and speaks the denominations and running total.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160934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17D23"/>
                </a:solidFill>
                <a:latin typeface="Times New Roman"/>
              </a:rPr>
              <a:t>0.3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157984"/>
            <a:ext cx="10835640" cy="65836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295144"/>
            <a:ext cx="1572768" cy="384048"/>
          </a:xfrm>
          <a:prstGeom prst="roundRect">
            <a:avLst>
              <a:gd name="adj" fmla="val 45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“describe”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2258568"/>
            <a:ext cx="6903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0A2341"/>
                </a:solidFill>
                <a:latin typeface="Calibri"/>
              </a:rPr>
              <a:t>Scene Description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Gemma 3 vision model narrates what is in front of the user in one short sentence.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34086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17D23"/>
                </a:solidFill>
                <a:latin typeface="Times New Roman"/>
              </a:rPr>
              <a:t>1.5 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889504"/>
            <a:ext cx="10835640" cy="65836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3026664"/>
            <a:ext cx="1572768" cy="384048"/>
          </a:xfrm>
          <a:prstGeom prst="roundRect">
            <a:avLst>
              <a:gd name="adj" fmla="val 45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“read”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90088"/>
            <a:ext cx="6903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0A2341"/>
                </a:solidFill>
                <a:latin typeface="Calibri"/>
              </a:rPr>
              <a:t>Text &amp; Signboard Reading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RapidOCR extracts the text, then Gemma summarises it in plain spoken language.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307238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17D23"/>
                </a:solidFill>
                <a:latin typeface="Times New Roman"/>
              </a:rPr>
              <a:t>4.3 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21024"/>
            <a:ext cx="10835640" cy="65836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" y="3758184"/>
            <a:ext cx="1572768" cy="384048"/>
          </a:xfrm>
          <a:prstGeom prst="roundRect">
            <a:avLst>
              <a:gd name="adj" fmla="val 45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“question”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5184" y="3721608"/>
            <a:ext cx="6903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0A2341"/>
                </a:solidFill>
                <a:latin typeface="Calibri"/>
              </a:rPr>
              <a:t>Visual Question Answering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Speech transcribed on-device by Whisper, answered against the live camera 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80390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17D23"/>
                </a:solidFill>
                <a:latin typeface="Times New Roman"/>
              </a:rPr>
              <a:t>~6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352544"/>
            <a:ext cx="10835640" cy="65836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1248" y="4489704"/>
            <a:ext cx="1572768" cy="384048"/>
          </a:xfrm>
          <a:prstGeom prst="roundRect">
            <a:avLst>
              <a:gd name="adj" fmla="val 45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“detect”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4453128"/>
            <a:ext cx="6903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0A2341"/>
                </a:solidFill>
                <a:latin typeface="Calibri"/>
              </a:rPr>
              <a:t>Proximity / Obstacle Alert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YOLO flags large hazards close ahead and grades them as Careful or Stop.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453542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17D23"/>
                </a:solidFill>
                <a:latin typeface="Times New Roman"/>
              </a:rPr>
              <a:t>0.03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138928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5191E"/>
                </a:solidFill>
                <a:latin typeface="Calibri"/>
              </a:rPr>
              <a:t>Two-tier architecture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431536"/>
            <a:ext cx="5349240" cy="5486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504688"/>
            <a:ext cx="50292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E17D23"/>
                </a:solidFill>
                <a:latin typeface="Calibri"/>
              </a:rPr>
              <a:t>TIER 1 — fast &amp; deterministic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Currency YOLO · YOLO11n · RapidOCR   —   milliseconds, confidence-gated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5431536"/>
            <a:ext cx="5349240" cy="5486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5504688"/>
            <a:ext cx="50292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A5191E"/>
                </a:solidFill>
                <a:latin typeface="Calibri"/>
              </a:rPr>
              <a:t>TIER 2 — open-ended reasoning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Gemma 3 4B · faster-whisper · Piper TTS   —   local Ollama, no network</a:t>
            </a:r>
          </a:p>
        </p:txBody>
      </p:sp>
    </p:spTree>
    <p:extLst>
      <p:ext uri="{BB962C8B-B14F-4D97-AF65-F5344CB8AC3E}">
        <p14:creationId xmlns:p14="http://schemas.microsoft.com/office/powerpoint/2010/main" val="845223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A3725-CB63-4AF8-9C7D-69F919C07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B419-BED4-A5C8-7572-6B1970727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759" y="83972"/>
            <a:ext cx="10833316" cy="783931"/>
          </a:xfrm>
        </p:spPr>
        <p:txBody>
          <a:bodyPr>
            <a:normAutofit/>
          </a:bodyPr>
          <a:lstStyle/>
          <a:p>
            <a:pPr algn="l"/>
            <a:r>
              <a:rPr lang="en-US" sz="3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5970A0-F2CD-1B03-DC61-22F88D64991C}"/>
              </a:ext>
            </a:extLst>
          </p:cNvPr>
          <p:cNvCxnSpPr>
            <a:cxnSpLocks/>
          </p:cNvCxnSpPr>
          <p:nvPr/>
        </p:nvCxnSpPr>
        <p:spPr>
          <a:xfrm>
            <a:off x="681925" y="836905"/>
            <a:ext cx="103218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26" name="Picture 2" descr="RGUKT Srikakulam">
            <a:extLst>
              <a:ext uri="{FF2B5EF4-FFF2-40B4-BE49-F238E27FC236}">
                <a16:creationId xmlns:a16="http://schemas.microsoft.com/office/drawing/2014/main" id="{0535076F-776F-416E-6E18-81AC2BD9D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103856"/>
            <a:ext cx="754144" cy="754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6F835A-60C6-2321-9655-88176E0E11A6}"/>
              </a:ext>
            </a:extLst>
          </p:cNvPr>
          <p:cNvCxnSpPr>
            <a:cxnSpLocks/>
          </p:cNvCxnSpPr>
          <p:nvPr/>
        </p:nvCxnSpPr>
        <p:spPr>
          <a:xfrm>
            <a:off x="3595609" y="6413711"/>
            <a:ext cx="520743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C325E1B-15C0-FE8A-4DE3-8E6A8A0891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44" t="11164" r="7938" b="38386"/>
          <a:stretch>
            <a:fillRect/>
          </a:stretch>
        </p:blipFill>
        <p:spPr>
          <a:xfrm>
            <a:off x="10074810" y="92757"/>
            <a:ext cx="1857973" cy="663561"/>
          </a:xfrm>
          <a:prstGeom prst="rect">
            <a:avLst/>
          </a:prstGeom>
        </p:spPr>
      </p:pic>
      <p:sp>
        <p:nvSpPr>
          <p:cNvPr id="1027" name="TextBox 1026"/>
          <p:cNvSpPr txBox="1"/>
          <p:nvPr/>
        </p:nvSpPr>
        <p:spPr>
          <a:xfrm>
            <a:off x="658368" y="1042415"/>
            <a:ext cx="10835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A6372"/>
                </a:solidFill>
                <a:latin typeface="Calibri"/>
              </a:rPr>
              <a:t>How a single spoken word becomes a spoken answer.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658368" y="1463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29" name="TextBox 1028"/>
          <p:cNvSpPr txBox="1"/>
          <p:nvPr/>
        </p:nvSpPr>
        <p:spPr>
          <a:xfrm>
            <a:off x="1408176" y="1481328"/>
            <a:ext cx="100858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A5191E"/>
                </a:solidFill>
                <a:latin typeface="Calibri"/>
              </a:rPr>
              <a:t>Listen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2060"/>
                </a:solidFill>
                <a:latin typeface="Calibri"/>
              </a:rPr>
              <a:t>Browser speech recognition matches one of five command words continuously, with no cloud round-trip for the wake word.</a:t>
            </a:r>
          </a:p>
        </p:txBody>
      </p:sp>
      <p:sp>
        <p:nvSpPr>
          <p:cNvPr id="1030" name="Rounded Rectangle 1029"/>
          <p:cNvSpPr/>
          <p:nvPr/>
        </p:nvSpPr>
        <p:spPr>
          <a:xfrm>
            <a:off x="658368" y="232257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1408176" y="2340864"/>
            <a:ext cx="100858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A5191E"/>
                </a:solidFill>
                <a:latin typeface="Calibri"/>
              </a:rPr>
              <a:t>Capture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2060"/>
                </a:solidFill>
                <a:latin typeface="Calibri"/>
              </a:rPr>
              <a:t>The command mints an epoch token and grabs a frame — 1600 px for text and detail work, 640 px for fast object detection.</a:t>
            </a:r>
          </a:p>
        </p:txBody>
      </p:sp>
      <p:sp>
        <p:nvSpPr>
          <p:cNvPr id="1032" name="Rounded Rectangle 1031"/>
          <p:cNvSpPr/>
          <p:nvPr/>
        </p:nvSpPr>
        <p:spPr>
          <a:xfrm>
            <a:off x="658368" y="318211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1408176" y="3200400"/>
            <a:ext cx="100858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A5191E"/>
                </a:solidFill>
                <a:latin typeface="Calibri"/>
              </a:rPr>
              <a:t>Route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2060"/>
                </a:solidFill>
                <a:latin typeface="Calibri"/>
              </a:rPr>
              <a:t>The request goes to the matching Tier-1 model, or to Gemma when the task needs open-ended reasoning.</a:t>
            </a:r>
          </a:p>
        </p:txBody>
      </p:sp>
      <p:sp>
        <p:nvSpPr>
          <p:cNvPr id="1034" name="Rounded Rectangle 1033"/>
          <p:cNvSpPr/>
          <p:nvPr/>
        </p:nvSpPr>
        <p:spPr>
          <a:xfrm>
            <a:off x="658368" y="40416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1408176" y="4059935"/>
            <a:ext cx="100858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A5191E"/>
                </a:solidFill>
                <a:latin typeface="Calibri"/>
              </a:rPr>
              <a:t>Verify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2060"/>
                </a:solidFill>
                <a:latin typeface="Calibri"/>
              </a:rPr>
              <a:t>Confidence floors and a Gemma gate reject uncertain reads instead of guessing — abstaining is preferred to being wrong.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658368" y="4901183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1408176" y="4919471"/>
            <a:ext cx="100858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A5191E"/>
                </a:solidFill>
                <a:latin typeface="Calibri"/>
              </a:rPr>
              <a:t>Speak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02060"/>
                </a:solidFill>
                <a:latin typeface="Calibri"/>
              </a:rPr>
              <a:t>The answer is synthesised locally and played back; the epoch token discards any result the user has already superseded.</a:t>
            </a:r>
          </a:p>
        </p:txBody>
      </p:sp>
    </p:spTree>
    <p:extLst>
      <p:ext uri="{BB962C8B-B14F-4D97-AF65-F5344CB8AC3E}">
        <p14:creationId xmlns:p14="http://schemas.microsoft.com/office/powerpoint/2010/main" val="68171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75843-342F-B6EE-E614-728097B01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265E7-6737-3AFF-AA7D-75F04668B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759" y="83972"/>
            <a:ext cx="10833316" cy="783931"/>
          </a:xfrm>
        </p:spPr>
        <p:txBody>
          <a:bodyPr>
            <a:normAutofit/>
          </a:bodyPr>
          <a:lstStyle/>
          <a:p>
            <a:pPr algn="l"/>
            <a:r>
              <a:rPr lang="en-US" sz="3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C74CC1-C53E-78D6-A018-985EFD78A760}"/>
              </a:ext>
            </a:extLst>
          </p:cNvPr>
          <p:cNvCxnSpPr>
            <a:cxnSpLocks/>
          </p:cNvCxnSpPr>
          <p:nvPr/>
        </p:nvCxnSpPr>
        <p:spPr>
          <a:xfrm>
            <a:off x="681925" y="836905"/>
            <a:ext cx="103218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32F537-8304-556B-F50B-2CA1D193CC1C}"/>
              </a:ext>
            </a:extLst>
          </p:cNvPr>
          <p:cNvCxnSpPr>
            <a:cxnSpLocks/>
          </p:cNvCxnSpPr>
          <p:nvPr/>
        </p:nvCxnSpPr>
        <p:spPr>
          <a:xfrm>
            <a:off x="3595609" y="6413711"/>
            <a:ext cx="520743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E0B77B7-5E14-EA7A-FF6F-E9F4A92922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44" t="11164" r="7938" b="38386"/>
          <a:stretch>
            <a:fillRect/>
          </a:stretch>
        </p:blipFill>
        <p:spPr>
          <a:xfrm>
            <a:off x="10074810" y="92757"/>
            <a:ext cx="1857973" cy="663561"/>
          </a:xfrm>
          <a:prstGeom prst="rect">
            <a:avLst/>
          </a:prstGeom>
        </p:spPr>
      </p:pic>
      <p:pic>
        <p:nvPicPr>
          <p:cNvPr id="9" name="Picture 2" descr="RGUKT Srikakulam">
            <a:extLst>
              <a:ext uri="{FF2B5EF4-FFF2-40B4-BE49-F238E27FC236}">
                <a16:creationId xmlns:a16="http://schemas.microsoft.com/office/drawing/2014/main" id="{0BE06220-0222-5521-3E1F-EDDD56499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0" y="5984990"/>
            <a:ext cx="814919" cy="81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58368" y="1042415"/>
            <a:ext cx="10835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A6372"/>
                </a:solidFill>
                <a:latin typeface="Calibri"/>
              </a:rPr>
              <a:t>A working system, not a prototype — every mode below runs today on a MacBook Air.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426464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A5191E"/>
                </a:solidFill>
                <a:latin typeface="Calibri"/>
              </a:rPr>
              <a:t>Engineering Highlights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1792224"/>
            <a:ext cx="616305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A2341"/>
                </a:solidFill>
                <a:latin typeface="Calibri"/>
              </a:rPr>
              <a:t>Custom-trained currency model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YOLO fine-tuned on 1,917 training and 472 validation images across 10 Indian denominations, old and new variants.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6151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560320"/>
            <a:ext cx="616305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A2341"/>
                </a:solidFill>
                <a:latin typeface="Calibri"/>
              </a:rPr>
              <a:t>Gemma-gated currency pipeline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The detector has no negative class, so Gemma first answers a yes/no “is currency present” before YOLO is trusted.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83279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328415"/>
            <a:ext cx="616305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A2341"/>
                </a:solidFill>
                <a:latin typeface="Calibri"/>
              </a:rPr>
              <a:t>Resolution-aware capture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OCR receives 1600 px frames, object detection 640 px. Reading text at 640 px produced unusable output in testing.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5137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096511"/>
            <a:ext cx="616305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A2341"/>
                </a:solidFill>
                <a:latin typeface="Calibri"/>
              </a:rPr>
              <a:t>Race-free voice state machine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An epoch token cancels superseded work, so a second command can never be clobbered by a stale in-flight response.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91947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864607"/>
            <a:ext cx="616305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A2341"/>
                </a:solidFill>
                <a:latin typeface="Calibri"/>
              </a:rPr>
              <a:t>Honest failure paths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Low OCR confidence, silent audio and unreachable models each degrade to a spoken message — never a silent drop.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1426464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A5191E"/>
                </a:solidFill>
                <a:latin typeface="Calibri"/>
              </a:rPr>
              <a:t>Technology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8" y="1792224"/>
            <a:ext cx="3977639" cy="512064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1856231"/>
            <a:ext cx="3611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Gemma 3 4B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Vision + language · 3.3 GB · Ollama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6368" y="2377440"/>
            <a:ext cx="3977639" cy="512064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9248" y="2441448"/>
            <a:ext cx="3611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YOLO (custom)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Currency · 10 classes · 5.5 MB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16368" y="2962656"/>
            <a:ext cx="3977639" cy="512064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3026664"/>
            <a:ext cx="3611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YOLO11n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Objects · COCO · 5.6 MB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16368" y="3547872"/>
            <a:ext cx="3977639" cy="512064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9248" y="3611880"/>
            <a:ext cx="3611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RapidOCR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ONNX PaddleOCR · 15 MB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16368" y="4133088"/>
            <a:ext cx="3977639" cy="512064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4197096"/>
            <a:ext cx="3611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faster-whisper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Speech-to-text · 141 MB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16368" y="4718304"/>
            <a:ext cx="3977639" cy="512064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4782312"/>
            <a:ext cx="3611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FastAPI + Vanilla JS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372"/>
                </a:solidFill>
                <a:latin typeface="Calibri"/>
              </a:rPr>
              <a:t>REST server · no build step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59552"/>
            <a:ext cx="10835640" cy="420624"/>
          </a:xfrm>
          <a:prstGeom prst="roundRect">
            <a:avLst>
              <a:gd name="adj" fmla="val 8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250" b="1">
                <a:solidFill>
                  <a:srgbClr val="E17D23"/>
                </a:solidFill>
                <a:latin typeface="Calibri"/>
              </a:rPr>
              <a:t>Privacy by architecture:  </a:t>
            </a:r>
            <a:r>
              <a:rPr sz="1200">
                <a:solidFill>
                  <a:srgbClr val="FFFFFF"/>
                </a:solidFill>
                <a:latin typeface="Calibri"/>
              </a:rPr>
              <a:t>2,946 lines of code, 5 assistive modes, 0 cloud API calls — the camera feed never leaves the device.</a:t>
            </a:r>
          </a:p>
        </p:txBody>
      </p:sp>
    </p:spTree>
    <p:extLst>
      <p:ext uri="{BB962C8B-B14F-4D97-AF65-F5344CB8AC3E}">
        <p14:creationId xmlns:p14="http://schemas.microsoft.com/office/powerpoint/2010/main" val="350224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6AE82-50D9-87CA-B396-DE85E6E9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7CDE4-D9FE-1B74-FF0D-37CA0DA31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759" y="83972"/>
            <a:ext cx="10833316" cy="783931"/>
          </a:xfrm>
        </p:spPr>
        <p:txBody>
          <a:bodyPr>
            <a:normAutofit/>
          </a:bodyPr>
          <a:lstStyle/>
          <a:p>
            <a:pPr algn="l"/>
            <a:r>
              <a:rPr lang="en-US" sz="3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  <a:endParaRPr lang="en-IN" sz="3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4E27C6-683E-EBC8-CBE2-7542C18D7B4A}"/>
              </a:ext>
            </a:extLst>
          </p:cNvPr>
          <p:cNvCxnSpPr>
            <a:cxnSpLocks/>
          </p:cNvCxnSpPr>
          <p:nvPr/>
        </p:nvCxnSpPr>
        <p:spPr>
          <a:xfrm>
            <a:off x="681925" y="836905"/>
            <a:ext cx="103218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F1815A-0245-517B-7680-0DC1AB7A8126}"/>
              </a:ext>
            </a:extLst>
          </p:cNvPr>
          <p:cNvCxnSpPr>
            <a:cxnSpLocks/>
          </p:cNvCxnSpPr>
          <p:nvPr/>
        </p:nvCxnSpPr>
        <p:spPr>
          <a:xfrm>
            <a:off x="3595609" y="6413711"/>
            <a:ext cx="520743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D961BCA-B03A-29DE-1BBF-DB8A456AA7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44" t="11164" r="7938" b="38386"/>
          <a:stretch>
            <a:fillRect/>
          </a:stretch>
        </p:blipFill>
        <p:spPr>
          <a:xfrm>
            <a:off x="10074810" y="92757"/>
            <a:ext cx="1857973" cy="663561"/>
          </a:xfrm>
          <a:prstGeom prst="rect">
            <a:avLst/>
          </a:prstGeom>
        </p:spPr>
      </p:pic>
      <p:pic>
        <p:nvPicPr>
          <p:cNvPr id="9" name="Picture 2" descr="RGUKT Srikakulam">
            <a:extLst>
              <a:ext uri="{FF2B5EF4-FFF2-40B4-BE49-F238E27FC236}">
                <a16:creationId xmlns:a16="http://schemas.microsoft.com/office/drawing/2014/main" id="{1D33139A-7A29-5C08-2C57-26D42F97E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0" y="5984990"/>
            <a:ext cx="814919" cy="81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58368" y="1024128"/>
            <a:ext cx="1083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6372"/>
                </a:solidFill>
                <a:latin typeface="Calibri"/>
              </a:rPr>
              <a:t>Measured on a MacBook Air (Apple M4, 16 GB) — median of 3 runs, models warm. First call after idle adds ~4 s while Ollama reloads Gemma.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3716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0A2341"/>
                </a:solidFill>
                <a:latin typeface="Times New Roman"/>
              </a:rPr>
              <a:t>0.03 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Proximity scan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3716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0A2341"/>
                </a:solidFill>
                <a:latin typeface="Times New Roman"/>
              </a:rPr>
              <a:t>0.30 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Currency scan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3716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E17D23"/>
                </a:solidFill>
                <a:latin typeface="Times New Roman"/>
              </a:rPr>
              <a:t>0.96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OCR confidence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7" y="13716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A5191E"/>
                </a:solidFill>
                <a:latin typeface="Times New Roman"/>
              </a:rPr>
              <a:t>2,750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Multi-note total, correct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58368" y="2432304"/>
          <a:ext cx="5669280" cy="230428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601968" y="2432304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5191E"/>
                </a:solidFill>
                <a:latin typeface="Calibri"/>
              </a:rPr>
              <a:t>What testing changed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761488"/>
            <a:ext cx="4892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OCR engine swap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Tesseract read 37 garbage characters at 0.15 confidence on a 640 px frame; RapidOCR read 1,398 usable characters at 0.68. RapidOCR ships.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456432"/>
            <a:ext cx="4892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Vision model choice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Moondream answered in ~1 s but hallucinated. Qwen2.5-VL 7B took 51 s. Gemma 3 4B was the only one both accurate and fast.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151376"/>
            <a:ext cx="4892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False-positive guard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The currency model labelled a photo of people as “100 rupees” at 0.98 confidence — which is why Gemma now gates every currency read.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82896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5191E"/>
                </a:solidFill>
                <a:latin typeface="Calibri"/>
              </a:rPr>
              <a:t>Problem Statement #4 — feature coverage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175504"/>
            <a:ext cx="1481328" cy="438912"/>
          </a:xfrm>
          <a:prstGeom prst="roundRect">
            <a:avLst>
              <a:gd name="adj" fmla="val 1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0A2341"/>
                </a:solidFill>
                <a:latin typeface="Calibri"/>
              </a:rPr>
              <a:t>✓ </a:t>
            </a:r>
            <a:r>
              <a:rPr sz="900" b="1">
                <a:solidFill>
                  <a:srgbClr val="0A2341"/>
                </a:solidFill>
                <a:latin typeface="Calibri"/>
              </a:rPr>
              <a:t>Object detection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12848" y="5175504"/>
            <a:ext cx="1481328" cy="438912"/>
          </a:xfrm>
          <a:prstGeom prst="roundRect">
            <a:avLst>
              <a:gd name="adj" fmla="val 1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0A2341"/>
                </a:solidFill>
                <a:latin typeface="Calibri"/>
              </a:rPr>
              <a:t>✓ </a:t>
            </a:r>
            <a:r>
              <a:rPr sz="900" b="1">
                <a:solidFill>
                  <a:srgbClr val="0A2341"/>
                </a:solidFill>
                <a:latin typeface="Calibri"/>
              </a:rPr>
              <a:t>Text / signboard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7328" y="5175504"/>
            <a:ext cx="1481328" cy="438912"/>
          </a:xfrm>
          <a:prstGeom prst="roundRect">
            <a:avLst>
              <a:gd name="adj" fmla="val 1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0A2341"/>
                </a:solidFill>
                <a:latin typeface="Calibri"/>
              </a:rPr>
              <a:t>✓ </a:t>
            </a:r>
            <a:r>
              <a:rPr sz="900" b="1">
                <a:solidFill>
                  <a:srgbClr val="0A2341"/>
                </a:solidFill>
                <a:latin typeface="Calibri"/>
              </a:rPr>
              <a:t>Currency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21808" y="5175504"/>
            <a:ext cx="1481328" cy="438912"/>
          </a:xfrm>
          <a:prstGeom prst="roundRect">
            <a:avLst>
              <a:gd name="adj" fmla="val 1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0A2341"/>
                </a:solidFill>
                <a:latin typeface="Calibri"/>
              </a:rPr>
              <a:t>✓ </a:t>
            </a:r>
            <a:r>
              <a:rPr sz="900" b="1">
                <a:solidFill>
                  <a:srgbClr val="0A2341"/>
                </a:solidFill>
                <a:latin typeface="Calibri"/>
              </a:rPr>
              <a:t>Text-to-speech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76288" y="5175504"/>
            <a:ext cx="1481328" cy="438912"/>
          </a:xfrm>
          <a:prstGeom prst="roundRect">
            <a:avLst>
              <a:gd name="adj" fmla="val 1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0A2341"/>
                </a:solidFill>
                <a:latin typeface="Calibri"/>
              </a:rPr>
              <a:t>✓ </a:t>
            </a:r>
            <a:r>
              <a:rPr sz="900" b="1">
                <a:solidFill>
                  <a:srgbClr val="0A2341"/>
                </a:solidFill>
                <a:latin typeface="Calibri"/>
              </a:rPr>
              <a:t>Speech-to-text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30768" y="5175504"/>
            <a:ext cx="1481328" cy="438912"/>
          </a:xfrm>
          <a:prstGeom prst="roundRect">
            <a:avLst>
              <a:gd name="adj" fmla="val 1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0A2341"/>
                </a:solidFill>
                <a:latin typeface="Calibri"/>
              </a:rPr>
              <a:t>✓ </a:t>
            </a:r>
            <a:r>
              <a:rPr sz="900" b="1">
                <a:solidFill>
                  <a:srgbClr val="0A2341"/>
                </a:solidFill>
                <a:latin typeface="Calibri"/>
              </a:rPr>
              <a:t>Obstacle detection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85248" y="5175504"/>
            <a:ext cx="1481328" cy="438912"/>
          </a:xfrm>
          <a:prstGeom prst="roundRect">
            <a:avLst>
              <a:gd name="adj" fmla="val 1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0A2341"/>
                </a:solidFill>
                <a:latin typeface="Calibri"/>
              </a:rPr>
              <a:t>✓ </a:t>
            </a:r>
            <a:r>
              <a:rPr sz="900" b="1">
                <a:solidFill>
                  <a:srgbClr val="0A2341"/>
                </a:solidFill>
                <a:latin typeface="Calibri"/>
              </a:rPr>
              <a:t>Navigation assist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669280"/>
            <a:ext cx="10835640" cy="365760"/>
          </a:xfrm>
          <a:prstGeom prst="roundRect">
            <a:avLst>
              <a:gd name="adj" fmla="val 8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300" b="1">
                <a:solidFill>
                  <a:srgbClr val="E17D23"/>
                </a:solidFill>
                <a:latin typeface="Calibri"/>
              </a:rPr>
              <a:t>7 of 10 </a:t>
            </a:r>
            <a:r>
              <a:rPr sz="1150">
                <a:solidFill>
                  <a:srgbClr val="FFFFFF"/>
                </a:solidFill>
                <a:latin typeface="Calibri"/>
              </a:rPr>
              <a:t>PS-4 features delivered and demonstrable — sound alerts, educational content and SOS are scoped, not started.</a:t>
            </a:r>
          </a:p>
        </p:txBody>
      </p:sp>
    </p:spTree>
    <p:extLst>
      <p:ext uri="{BB962C8B-B14F-4D97-AF65-F5344CB8AC3E}">
        <p14:creationId xmlns:p14="http://schemas.microsoft.com/office/powerpoint/2010/main" val="1427769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F5A32-404F-94FF-A33D-7B95AB1F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411EA-293F-E857-153E-D20259291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759" y="83972"/>
            <a:ext cx="10833316" cy="783931"/>
          </a:xfrm>
        </p:spPr>
        <p:txBody>
          <a:bodyPr>
            <a:normAutofit/>
          </a:bodyPr>
          <a:lstStyle/>
          <a:p>
            <a:pPr algn="l"/>
            <a:r>
              <a:rPr lang="en-US" sz="3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IN" sz="3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AB2D3-5478-8FE8-541E-15CC9972EA2A}"/>
              </a:ext>
            </a:extLst>
          </p:cNvPr>
          <p:cNvCxnSpPr>
            <a:cxnSpLocks/>
          </p:cNvCxnSpPr>
          <p:nvPr/>
        </p:nvCxnSpPr>
        <p:spPr>
          <a:xfrm>
            <a:off x="681925" y="836905"/>
            <a:ext cx="103218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C69150-74AF-C3EC-2171-5CFE34559906}"/>
              </a:ext>
            </a:extLst>
          </p:cNvPr>
          <p:cNvCxnSpPr>
            <a:cxnSpLocks/>
          </p:cNvCxnSpPr>
          <p:nvPr/>
        </p:nvCxnSpPr>
        <p:spPr>
          <a:xfrm>
            <a:off x="3595609" y="6413711"/>
            <a:ext cx="520743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B36A56E-71DD-355D-049E-19C7CA4E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44" t="11164" r="7938" b="38386"/>
          <a:stretch>
            <a:fillRect/>
          </a:stretch>
        </p:blipFill>
        <p:spPr>
          <a:xfrm>
            <a:off x="10074810" y="92757"/>
            <a:ext cx="1857973" cy="663561"/>
          </a:xfrm>
          <a:prstGeom prst="rect">
            <a:avLst/>
          </a:prstGeom>
        </p:spPr>
      </p:pic>
      <p:pic>
        <p:nvPicPr>
          <p:cNvPr id="12" name="Picture 2" descr="RGUKT Srikakulam">
            <a:extLst>
              <a:ext uri="{FF2B5EF4-FFF2-40B4-BE49-F238E27FC236}">
                <a16:creationId xmlns:a16="http://schemas.microsoft.com/office/drawing/2014/main" id="{4099090D-8ECD-F84F-6EC4-BB0641D3D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0" y="5984990"/>
            <a:ext cx="814919" cy="81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658368" y="1078992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A5191E"/>
                </a:solidFill>
                <a:latin typeface="Calibri"/>
              </a:rP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426464"/>
            <a:ext cx="5257800" cy="2231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02060"/>
                </a:solidFill>
                <a:latin typeface="Calibri"/>
              </a:rPr>
              <a:t>SETU shows that genuinely useful assistive AI does not require the cloud. Five capabilities that normally each need a separate app — and an internet connection — run together on one laptop, answered by voice in about a second.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2060"/>
                </a:solidFill>
                <a:latin typeface="Calibri"/>
              </a:rPr>
              <a:t>The engineering that mattered was not model size but honesty: knowing when the system is unsure. Confidence floors, a Gemma verification gate and graded alerts mean SETU abstains rather than misleads — the right default when a user cannot check the answer themselves.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40480"/>
            <a:ext cx="5257800" cy="1426464"/>
          </a:xfrm>
          <a:prstGeom prst="roundRect">
            <a:avLst>
              <a:gd name="adj" fmla="val 8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146304" bIns="10972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17D23"/>
                </a:solidFill>
                <a:latin typeface="Calibri"/>
              </a:rPr>
              <a:t>Why offline matters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6DDE8"/>
                </a:solidFill>
                <a:latin typeface="Calibri"/>
              </a:rPr>
              <a:t>4.95 crore Indians live with vision impairment, many in the low-connectivity areas where cloud assistive apps fail. An offline tool works on a village road, a hospital basement, a moving train — and never uploads a blind user's home, documents or money.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1078992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A5191E"/>
                </a:solidFill>
                <a:latin typeface="Calibri"/>
              </a:rPr>
              <a:t>Future Scope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4813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426464"/>
            <a:ext cx="492861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Android / iOS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Port the pipeline to on-device mobile runtimes so SETU runs on the phone already in the user's pocket.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2267712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212848"/>
            <a:ext cx="492861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Indian language support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Whisper and Piper both support multilingual models — Telugu, Hindi and Tamil are the priority.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3054096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2999232"/>
            <a:ext cx="492861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Environmental sound alerts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Audio event classification for horns, alarms and approaching vehicles, completing PS-4 coverage.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840479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3785615"/>
            <a:ext cx="492861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Offline emergency SOS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Location-tagged distress messaging that degrades to SMS when there is no data connection.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462686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17D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4572000"/>
            <a:ext cx="492861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Monocular depth estimation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Replace the area-fraction heuristic with true depth for more accurate distance judgement.</a:t>
            </a:r>
          </a:p>
        </p:txBody>
      </p:sp>
    </p:spTree>
    <p:extLst>
      <p:ext uri="{BB962C8B-B14F-4D97-AF65-F5344CB8AC3E}">
        <p14:creationId xmlns:p14="http://schemas.microsoft.com/office/powerpoint/2010/main" val="1376151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06B1-87B7-6359-F6CC-8AAD0D03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762D4-25AC-78CB-4159-DC8C501A0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759" y="83972"/>
            <a:ext cx="10833316" cy="783931"/>
          </a:xfrm>
        </p:spPr>
        <p:txBody>
          <a:bodyPr>
            <a:normAutofit/>
          </a:bodyPr>
          <a:lstStyle/>
          <a:p>
            <a:pPr algn="l"/>
            <a:r>
              <a:rPr lang="en-US" sz="3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749180-7D42-EEEC-1F0B-AFD674FB2D66}"/>
              </a:ext>
            </a:extLst>
          </p:cNvPr>
          <p:cNvCxnSpPr>
            <a:cxnSpLocks/>
          </p:cNvCxnSpPr>
          <p:nvPr/>
        </p:nvCxnSpPr>
        <p:spPr>
          <a:xfrm>
            <a:off x="681925" y="836905"/>
            <a:ext cx="103218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0184A8-2DA2-B09D-D5D5-E9970AE6BFAA}"/>
              </a:ext>
            </a:extLst>
          </p:cNvPr>
          <p:cNvCxnSpPr>
            <a:cxnSpLocks/>
          </p:cNvCxnSpPr>
          <p:nvPr/>
        </p:nvCxnSpPr>
        <p:spPr>
          <a:xfrm>
            <a:off x="3595609" y="6413711"/>
            <a:ext cx="520743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02A60EF-C66D-017E-CE9B-4CC720AD1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44" t="11164" r="7938" b="38386"/>
          <a:stretch>
            <a:fillRect/>
          </a:stretch>
        </p:blipFill>
        <p:spPr>
          <a:xfrm>
            <a:off x="10074810" y="92757"/>
            <a:ext cx="1857973" cy="663561"/>
          </a:xfrm>
          <a:prstGeom prst="rect">
            <a:avLst/>
          </a:prstGeom>
        </p:spPr>
      </p:pic>
      <p:pic>
        <p:nvPicPr>
          <p:cNvPr id="9" name="Picture 2" descr="RGUKT Srikakulam">
            <a:extLst>
              <a:ext uri="{FF2B5EF4-FFF2-40B4-BE49-F238E27FC236}">
                <a16:creationId xmlns:a16="http://schemas.microsoft.com/office/drawing/2014/main" id="{7A0EA2F8-8251-33C2-50A5-10EACB754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0" y="5984990"/>
            <a:ext cx="814919" cy="81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658368" y="115214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133856"/>
            <a:ext cx="10378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Gemma 3 Technical Report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Google DeepMind, 2025. Vision-language model used for scene description, visual Q&amp;A and currency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810512"/>
            <a:ext cx="10378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YOLO11 / Ultralytics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Jocher, G. et al., 2024. Detection backbone for proximity alerts and the custom currency detector.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0545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487168"/>
            <a:ext cx="10378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PP-OCR / RapidOCR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Du, Y. et al. PP-OCR: A Practical Ultra Lightweight OCR System, 2020. ONNX build used for text and signboard recognition.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8211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163824"/>
            <a:ext cx="10378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Robust Speech Recognition via Large-Scale Weak Supervision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Radford, A. et al., OpenAI, 2022. Whisper architecture, deployed as faster-whisper for on-device speech-to-text.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5876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840480"/>
            <a:ext cx="10378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Piper Text-to-Speech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Rhasspy Project, 2023. Local neural speech synthesis used for all spoken output.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53542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517136"/>
            <a:ext cx="10378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National Blindness and Visual Impairment Survey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Ministry of Health and Family Welfare, Government of India. Source of the 4.95 crore prevalence figure.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2120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5193792"/>
            <a:ext cx="10378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A2341"/>
                </a:solidFill>
                <a:latin typeface="Calibri"/>
              </a:rPr>
              <a:t>Web Speech API Specification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372"/>
                </a:solidFill>
                <a:latin typeface="Calibri"/>
              </a:rPr>
              <a:t>W3C Community Group Report. Used for on-device wake-word matching in the browser client.</a:t>
            </a:r>
          </a:p>
        </p:txBody>
      </p:sp>
    </p:spTree>
    <p:extLst>
      <p:ext uri="{BB962C8B-B14F-4D97-AF65-F5344CB8AC3E}">
        <p14:creationId xmlns:p14="http://schemas.microsoft.com/office/powerpoint/2010/main" val="1971761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76D8-AA6A-3890-2403-C6F7E892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7B7B9C-37CF-7D27-C1EF-2308D0256A59}"/>
              </a:ext>
            </a:extLst>
          </p:cNvPr>
          <p:cNvCxnSpPr>
            <a:cxnSpLocks/>
          </p:cNvCxnSpPr>
          <p:nvPr/>
        </p:nvCxnSpPr>
        <p:spPr>
          <a:xfrm>
            <a:off x="681925" y="836905"/>
            <a:ext cx="103218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26" name="Picture 2" descr="RGUKT Srikakulam">
            <a:extLst>
              <a:ext uri="{FF2B5EF4-FFF2-40B4-BE49-F238E27FC236}">
                <a16:creationId xmlns:a16="http://schemas.microsoft.com/office/drawing/2014/main" id="{B592B27B-BB95-64DA-9B7D-0E0BB1E81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925" y="4804475"/>
            <a:ext cx="1560150" cy="156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B5F5BA-C34D-D72E-FA13-5CA4C59C7FC1}"/>
              </a:ext>
            </a:extLst>
          </p:cNvPr>
          <p:cNvCxnSpPr>
            <a:cxnSpLocks/>
          </p:cNvCxnSpPr>
          <p:nvPr/>
        </p:nvCxnSpPr>
        <p:spPr>
          <a:xfrm>
            <a:off x="3595609" y="6413711"/>
            <a:ext cx="520743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C982964-C6B4-A11A-02B8-7A342CCA71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44" t="11164" r="7938" b="38386"/>
          <a:stretch>
            <a:fillRect/>
          </a:stretch>
        </p:blipFill>
        <p:spPr>
          <a:xfrm>
            <a:off x="10074810" y="92757"/>
            <a:ext cx="1857973" cy="663561"/>
          </a:xfrm>
          <a:prstGeom prst="rect">
            <a:avLst/>
          </a:prstGeom>
        </p:spPr>
      </p:pic>
      <p:sp>
        <p:nvSpPr>
          <p:cNvPr id="1027" name="TextBox 1026"/>
          <p:cNvSpPr txBox="1"/>
          <p:nvPr/>
        </p:nvSpPr>
        <p:spPr>
          <a:xfrm>
            <a:off x="658368" y="1920240"/>
            <a:ext cx="1083564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0A2341"/>
                </a:solidFill>
                <a:latin typeface="Times New Roman"/>
              </a:rPr>
              <a:t>Thank You</a:t>
            </a:r>
          </a:p>
        </p:txBody>
      </p:sp>
      <p:sp>
        <p:nvSpPr>
          <p:cNvPr id="1028" name="TextBox 1027"/>
          <p:cNvSpPr txBox="1"/>
          <p:nvPr/>
        </p:nvSpPr>
        <p:spPr>
          <a:xfrm>
            <a:off x="658368" y="3017520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A5191E"/>
                </a:solidFill>
                <a:latin typeface="Calibri"/>
              </a:rPr>
              <a:t>Questions are welcome — we are happy to run a live demo.</a:t>
            </a:r>
          </a:p>
        </p:txBody>
      </p:sp>
      <p:sp>
        <p:nvSpPr>
          <p:cNvPr id="1029" name="Rounded Rectangle 1028"/>
          <p:cNvSpPr/>
          <p:nvPr/>
        </p:nvSpPr>
        <p:spPr>
          <a:xfrm>
            <a:off x="4224528" y="3602736"/>
            <a:ext cx="3730752" cy="438912"/>
          </a:xfrm>
          <a:prstGeom prst="roundRect">
            <a:avLst>
              <a:gd name="adj" fmla="val 45000"/>
            </a:avLst>
          </a:prstGeom>
          <a:solidFill>
            <a:srgbClr val="0A2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SETU  •  Team 31 Gryffindor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658368" y="4754880"/>
            <a:ext cx="10835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A2341"/>
                </a:solidFill>
                <a:latin typeface="Calibri"/>
              </a:rPr>
              <a:t>RGUKT Srikakulam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B. Dhanush  •  K. Siva Prasad  •  B. Dhanaraju  •  M. M. Ravi Teja Reddy</a:t>
            </a:r>
          </a:p>
        </p:txBody>
      </p:sp>
    </p:spTree>
    <p:extLst>
      <p:ext uri="{BB962C8B-B14F-4D97-AF65-F5344CB8AC3E}">
        <p14:creationId xmlns:p14="http://schemas.microsoft.com/office/powerpoint/2010/main" val="3302250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67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Problem Statement</vt:lpstr>
      <vt:lpstr>Introduction/Abstract</vt:lpstr>
      <vt:lpstr>Objectives</vt:lpstr>
      <vt:lpstr>Proposed Solution</vt:lpstr>
      <vt:lpstr>Methodology</vt:lpstr>
      <vt:lpstr>Implementation</vt:lpstr>
      <vt:lpstr>Results and Analysis </vt:lpstr>
      <vt:lpstr>Conclusion and 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csehod</dc:creator>
  <cp:lastModifiedBy>csehod</cp:lastModifiedBy>
  <cp:revision>5</cp:revision>
  <dcterms:created xsi:type="dcterms:W3CDTF">2025-12-30T08:37:18Z</dcterms:created>
  <dcterms:modified xsi:type="dcterms:W3CDTF">2026-08-28T19:33:06Z</dcterms:modified>
</cp:coreProperties>
</file>